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80" r:id="rId4"/>
    <p:sldId id="282" r:id="rId5"/>
    <p:sldId id="283" r:id="rId6"/>
    <p:sldId id="285" r:id="rId7"/>
    <p:sldId id="286" r:id="rId8"/>
    <p:sldId id="287" r:id="rId9"/>
    <p:sldId id="288" r:id="rId10"/>
    <p:sldId id="289" r:id="rId11"/>
    <p:sldId id="290" r:id="rId12"/>
    <p:sldId id="292" r:id="rId13"/>
    <p:sldId id="293" r:id="rId14"/>
    <p:sldId id="294" r:id="rId15"/>
    <p:sldId id="295" r:id="rId16"/>
    <p:sldId id="28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7B268-D5F5-7C1D-33CC-84C5F41BE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EDA3E4-BB6A-546A-A3E6-6BB94FC3E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F2F22-CD86-67C1-FBFE-DA1ED1A5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0ECDFD-4537-09A8-1490-B0444BD0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1E3DA4-ED2C-A72C-1C0A-471EE333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34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B74E9-3C63-9F67-6864-9A659330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95B36E-2045-0DD3-3BAC-FE4A18E7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894E14-C85D-7AEE-45A9-471397BF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6CA49B-DA59-4F63-3833-19627D76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EA8FD-1338-43F9-EA91-529CE509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88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0BE73-4D3D-85ED-CFF3-D24A0600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D178A0-7F1F-4EB3-B597-8FE4972A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5AE618-7387-5598-7405-86C7B656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BC3D39-7DA1-BB0C-9B3B-7E93A8E4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EE6F4-9A75-1A99-93AC-B49B20A6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52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EAA26-6F35-0C52-8266-2F0729B7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1DA38-3CDA-2C36-CE2E-9487B6B5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B0AA67-3296-55B9-4911-EE0B1485C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BF4C78-BDF0-EA73-27A0-F68D2259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9564DD-4479-9F6C-2617-47036659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4507C5-358E-4C30-E650-48C52D94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28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EE4C6-6F02-EA43-9683-8987E4AE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9B1BE1-02AA-F8CA-808D-B7393B544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79C7E6-EF3D-F16B-8419-57CBB35A9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BC3E16-CCB4-665D-EC9B-1F2539E82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F95C99-E752-CA8B-B7F3-EB0DEC236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A9442D-0980-E0C1-7165-F91B05DBE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FF3EE7-F398-A0FB-FB57-418C18A6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8BA1B4-47F9-89A4-9391-4147E37B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37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5DEC9-2F91-703F-5912-1BFF9B5E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D37F1F-9E1F-8028-DDAD-67F8CC0F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71C128-2173-65BB-B8E2-02E56E5D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97431A-6091-DB2D-7575-49DB139A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80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D02148-6CD4-9FA4-6F8C-6A885397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9AC274-4B35-02BA-7E90-AC0AF104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153C31-7153-8BE9-4E86-FF8B58A5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31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208A4-2D0C-C324-9DA3-837BBD52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0BBBD-8CB7-2D1F-798C-F29956C0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DA345D-CC13-E6E4-094B-DBCB6D5D7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44333E-3F54-37FD-3FA9-67C67A6B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B3CCAE-2E21-58CF-B00C-B722FE16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82E5AE-5F1B-9238-E357-418CE990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53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677CC-DF1B-9301-3D0A-C97CD230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32E37E-7883-F202-E7DC-04F6C76D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9C84A-0636-3660-BA32-B313CEAAD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F392E7-C672-B10B-69EC-2FE1350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E11E8-A59B-968A-9E99-4B0BD669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F9B006-79BB-FA81-01C5-E5152700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7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A4F3B-5FAC-309E-A94B-FC10862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E47186-EE11-B0D7-8CA2-51CD45A6C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45211-B546-BBFF-A090-B077ECB0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2DFD8-4F48-A3DC-AD57-3C4B28C6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9239F-25D7-8E90-ED3F-EBEED2D6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23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D9D6C6-635D-4DB3-3681-4ABB2D016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EA6BAF-4698-2690-D3E9-ACFA83FE2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C1317-A45B-343A-9BC9-C88B7011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18CAFA-6526-F8C2-222B-B90BA32E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3430AF-583F-FDC2-DFB8-72535B8F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1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0B1FE-DDF7-ED49-584F-A54A7267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4FCE5C-08D6-1E11-2C8E-9656CD18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3DE161-8EE8-D6D0-572F-0DF3BBCE8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C1214-74CB-4C09-B0F8-32CC454DEA6F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D29583-3E15-9331-A4C3-C27C7BFEB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3CE72-A47A-D927-B0EB-C79AF5F95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9B6A8-EA5A-4CA1-A807-8480912CFC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82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3987" y="2137678"/>
            <a:ext cx="10123053" cy="2387600"/>
          </a:xfrm>
        </p:spPr>
        <p:txBody>
          <a:bodyPr anchor="ctr">
            <a:normAutofit/>
          </a:bodyPr>
          <a:lstStyle/>
          <a:p>
            <a:r>
              <a:rPr lang="ru-RU" sz="3000" dirty="0">
                <a:solidFill>
                  <a:srgbClr val="EE2A2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Разработка базы данных информационной системы управления судебными делами «ДЕЛО.РУ»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31091" y="4600287"/>
            <a:ext cx="7230428" cy="1786961"/>
          </a:xfrm>
        </p:spPr>
        <p:txBody>
          <a:bodyPr anchor="b">
            <a:normAutofit lnSpcReduction="10000"/>
          </a:bodyPr>
          <a:lstStyle/>
          <a:p>
            <a:pPr algn="r"/>
            <a:r>
              <a:rPr lang="ru-RU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Выполнили: студенты гр.ИСП-23-1</a:t>
            </a:r>
          </a:p>
          <a:p>
            <a:pPr algn="r"/>
            <a:r>
              <a:rPr lang="ru-RU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Климов Степан Андреевич</a:t>
            </a:r>
          </a:p>
          <a:p>
            <a:pPr algn="r"/>
            <a:r>
              <a:rPr lang="ru-RU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Закурин</a:t>
            </a:r>
            <a:r>
              <a:rPr lang="ru-RU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Данил Вячеславович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754778" y="5695404"/>
            <a:ext cx="2804160" cy="766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89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152" y="0"/>
            <a:ext cx="3829695" cy="1037305"/>
          </a:xfrm>
        </p:spPr>
        <p:txBody>
          <a:bodyPr/>
          <a:lstStyle/>
          <a:p>
            <a:r>
              <a:rPr lang="ru-RU" b="1" dirty="0"/>
              <a:t>Цель и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FB6AA-8F96-84B4-46A9-26BC985280FA}"/>
              </a:ext>
            </a:extLst>
          </p:cNvPr>
          <p:cNvSpPr txBox="1"/>
          <p:nvPr/>
        </p:nvSpPr>
        <p:spPr>
          <a:xfrm>
            <a:off x="3225297" y="1594459"/>
            <a:ext cx="6160882" cy="4290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Цель: разработка базы данных информационной системы «ДЕЛО.РУ».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Задачи: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Анализ предметной области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Проектирование логической и физической схем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Построение ERD-модели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Создание объектов БД в MySQL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Разработка политики безопасности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Резервное копирование и восстановление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7512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Предметная область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491A44E-D4CE-0F45-282D-AA8BB0343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32508"/>
              </p:ext>
            </p:extLst>
          </p:nvPr>
        </p:nvGraphicFramePr>
        <p:xfrm>
          <a:off x="2514600" y="4037876"/>
          <a:ext cx="7162800" cy="16334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460052284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303524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Роль</a:t>
                      </a:r>
                      <a:endParaRPr lang="ru-RU" sz="1125" b="1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dirty="0">
                          <a:effectLst/>
                        </a:rPr>
                        <a:t>Функции</a:t>
                      </a:r>
                      <a:endParaRPr lang="ru-RU" sz="1125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90179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Заявитель</a:t>
                      </a:r>
                      <a:endParaRPr lang="ru-RU" sz="1125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подаёт заявление</a:t>
                      </a:r>
                      <a:endParaRPr lang="ru-RU" sz="1125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82452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Администратор</a:t>
                      </a:r>
                      <a:endParaRPr lang="ru-RU" sz="1125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проверяет, назначает судью</a:t>
                      </a:r>
                      <a:endParaRPr lang="ru-RU" sz="1125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9602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Судья</a:t>
                      </a:r>
                      <a:endParaRPr lang="ru-RU" sz="1125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ведёт дело, назначает заседание</a:t>
                      </a:r>
                      <a:endParaRPr lang="ru-RU" sz="1125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28704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146304-412E-8BCD-EF9B-715F1BCD10D3}"/>
              </a:ext>
            </a:extLst>
          </p:cNvPr>
          <p:cNvSpPr txBox="1"/>
          <p:nvPr/>
        </p:nvSpPr>
        <p:spPr>
          <a:xfrm>
            <a:off x="2929551" y="1336119"/>
            <a:ext cx="609750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Автоматизация судебного делопроизводства.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3 роли пользователей: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Сущности БД:</a:t>
            </a:r>
            <a:br>
              <a:rPr lang="ru-RU" sz="18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пользователи, дела, типы, подтипы, статусы, документы, заседания, решения, уведомления</a:t>
            </a:r>
            <a:endParaRPr lang="ru-RU" sz="180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4714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Логическая и физическая схемы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2539F-4B70-B0DE-BDB0-A4C63C1ABF28}"/>
              </a:ext>
            </a:extLst>
          </p:cNvPr>
          <p:cNvSpPr txBox="1"/>
          <p:nvPr/>
        </p:nvSpPr>
        <p:spPr>
          <a:xfrm>
            <a:off x="548489" y="2136338"/>
            <a:ext cx="44128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Логическая схема: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определены сущности и связи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связь «многие-к-одному» (</a:t>
            </a:r>
            <a:r>
              <a:rPr lang="en-US" dirty="0"/>
              <a:t>M</a:t>
            </a:r>
            <a:r>
              <a:rPr lang="ru-RU" dirty="0"/>
              <a:t>:1)</a:t>
            </a:r>
          </a:p>
          <a:p>
            <a:r>
              <a:rPr lang="ru-RU" dirty="0"/>
              <a:t>Физическая схема: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СУБД: MySQL 5.7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кодировка: utf8mb4_unicode_ci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типы: INT, VARCHAR, TEXT, DATE, TIME, DATETIME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PK: INT AUTO_INCREMENT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AFA46F-C954-A321-A57C-369205703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788" y="1205675"/>
            <a:ext cx="5925377" cy="25816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C080EA-ABCE-6BAE-E19A-CAE0E73DB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818" y="3787310"/>
            <a:ext cx="6878716" cy="27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9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617CAF-37FA-459F-CD56-F6E7685F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10" y="2376610"/>
            <a:ext cx="8249778" cy="3430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ED4B22-CB70-CFF4-B550-F218D23D5213}"/>
              </a:ext>
            </a:extLst>
          </p:cNvPr>
          <p:cNvSpPr txBox="1"/>
          <p:nvPr/>
        </p:nvSpPr>
        <p:spPr>
          <a:xfrm>
            <a:off x="4870307" y="1776398"/>
            <a:ext cx="2451385" cy="38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 (</a:t>
            </a:r>
            <a:r>
              <a:rPr lang="ru-RU" dirty="0"/>
              <a:t>Пользователи)</a:t>
            </a:r>
          </a:p>
        </p:txBody>
      </p:sp>
    </p:spTree>
    <p:extLst>
      <p:ext uri="{BB962C8B-B14F-4D97-AF65-F5344CB8AC3E}">
        <p14:creationId xmlns:p14="http://schemas.microsoft.com/office/powerpoint/2010/main" val="183215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E82F-311E-6FEB-8F10-7568AEE7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340FE1-1E8B-4D79-4F33-01FDB8200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91DB1-D312-2706-D656-C91ED81FD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A18C5-9DF0-F2D2-866C-BE738CC11262}"/>
              </a:ext>
            </a:extLst>
          </p:cNvPr>
          <p:cNvSpPr txBox="1"/>
          <p:nvPr/>
        </p:nvSpPr>
        <p:spPr>
          <a:xfrm>
            <a:off x="4656985" y="1434603"/>
            <a:ext cx="287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Cases (</a:t>
            </a:r>
            <a:r>
              <a:rPr lang="ru-RU" dirty="0"/>
              <a:t>Судебные дела)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1A4BE2-9BD0-6C1F-0EA5-F4218E74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044" y="2158671"/>
            <a:ext cx="7719912" cy="415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2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2323-FB89-FBCE-0C25-96D6F98A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8247EC-110C-6CB0-D030-51084A7FC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AAE89-0CAC-65D4-B2F1-7F01B332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9EB74-1994-FC11-FBF6-0D5B1C54610C}"/>
              </a:ext>
            </a:extLst>
          </p:cNvPr>
          <p:cNvSpPr txBox="1"/>
          <p:nvPr/>
        </p:nvSpPr>
        <p:spPr>
          <a:xfrm>
            <a:off x="4656985" y="1434603"/>
            <a:ext cx="287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Case_types</a:t>
            </a:r>
            <a:r>
              <a:rPr lang="ru-RU" dirty="0"/>
              <a:t> (Типы дел)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3F2B5B-2C78-EE6A-BFC7-55F0A904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14" y="3166862"/>
            <a:ext cx="10256986" cy="188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4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A186-3488-A2D5-E551-DD1D5734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B80938-6C32-B838-D9E7-0FD071848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FA89B-B286-8A71-BC7F-31C55292F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E7029-AE1F-F877-AAAD-201D80989690}"/>
              </a:ext>
            </a:extLst>
          </p:cNvPr>
          <p:cNvSpPr txBox="1"/>
          <p:nvPr/>
        </p:nvSpPr>
        <p:spPr>
          <a:xfrm>
            <a:off x="4430008" y="1739368"/>
            <a:ext cx="333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Case_subtypes</a:t>
            </a:r>
            <a:r>
              <a:rPr lang="ru-RU" dirty="0"/>
              <a:t> (Подтипы дел)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28DFE0-B518-90F1-1E39-FC032EEB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0095"/>
            <a:ext cx="10549114" cy="240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6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517E-D7C5-9FF1-E58D-80AE49476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C0E94F-D8A3-454C-32FC-38E123309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25A79-E4B2-724F-5D87-051021C1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D4105-EE2B-5B9E-9E45-754E5A1DC3E4}"/>
              </a:ext>
            </a:extLst>
          </p:cNvPr>
          <p:cNvSpPr txBox="1"/>
          <p:nvPr/>
        </p:nvSpPr>
        <p:spPr>
          <a:xfrm>
            <a:off x="4430008" y="1739368"/>
            <a:ext cx="333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Case_statuses</a:t>
            </a:r>
            <a:r>
              <a:rPr lang="ru-RU" dirty="0"/>
              <a:t> (Статусы дел)</a:t>
            </a:r>
            <a:endParaRPr lang="ru-RU" i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7559DF-927C-F432-73FF-587DE62ED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61" y="3381793"/>
            <a:ext cx="10237122" cy="23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6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93FA-6D16-BDB2-4B5D-545C3628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C1EDF0-E105-0A7F-A8AA-7A07FD89E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BACE3-9333-7ABE-2EFD-AAEE78CB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F3A70-6821-4E36-0B25-9C342DDC67F9}"/>
              </a:ext>
            </a:extLst>
          </p:cNvPr>
          <p:cNvSpPr txBox="1"/>
          <p:nvPr/>
        </p:nvSpPr>
        <p:spPr>
          <a:xfrm>
            <a:off x="3561393" y="1759688"/>
            <a:ext cx="540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Documents</a:t>
            </a:r>
            <a:r>
              <a:rPr lang="ru-RU" dirty="0"/>
              <a:t> (Прикреплённые документы по делам)</a:t>
            </a:r>
            <a:endParaRPr lang="ru-RU" i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347329-1BC2-D77F-7C85-11D249F9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101" y="2561974"/>
            <a:ext cx="9540389" cy="367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4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547C-6320-1710-A8F8-3DE73D0E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6804E9-CDD0-7FEF-AE40-79E2AADE5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14A58-8DEA-BE16-A875-F5C33B3CD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E6292-56B1-C8E5-7601-74AB2FB42475}"/>
              </a:ext>
            </a:extLst>
          </p:cNvPr>
          <p:cNvSpPr txBox="1"/>
          <p:nvPr/>
        </p:nvSpPr>
        <p:spPr>
          <a:xfrm>
            <a:off x="4411625" y="1805198"/>
            <a:ext cx="540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Hearings</a:t>
            </a:r>
            <a:r>
              <a:rPr lang="ru-RU" dirty="0"/>
              <a:t> (Расписание заседаний)</a:t>
            </a:r>
            <a:endParaRPr lang="ru-RU" i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147DED-B484-281C-33FA-F0E135C9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623" y="2751500"/>
            <a:ext cx="9800753" cy="33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3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CD2-1233-9F1B-60E4-C38FC6FF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45C996-0F69-33E1-080E-A6E137C7D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66C09-370D-E262-55D5-50068D43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6D022-E614-6C23-3C74-2655C53C2656}"/>
              </a:ext>
            </a:extLst>
          </p:cNvPr>
          <p:cNvSpPr txBox="1"/>
          <p:nvPr/>
        </p:nvSpPr>
        <p:spPr>
          <a:xfrm>
            <a:off x="4411625" y="1805198"/>
            <a:ext cx="540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Decisions</a:t>
            </a:r>
            <a:r>
              <a:rPr lang="ru-RU" dirty="0"/>
              <a:t> (История решений по делам)</a:t>
            </a:r>
            <a:endParaRPr lang="ru-RU" i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A1C016-4320-1749-C583-1622B60D4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04" y="2749967"/>
            <a:ext cx="9786791" cy="329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2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298B3-117E-4133-F042-F7C59EF1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8C7325-6733-BA13-962C-CD154E04E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ABBA9-396A-9F3D-1710-2544A8E9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Структура таблиц БД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17278-3811-A623-DF56-7B8E71D2D24B}"/>
              </a:ext>
            </a:extLst>
          </p:cNvPr>
          <p:cNvSpPr txBox="1"/>
          <p:nvPr/>
        </p:nvSpPr>
        <p:spPr>
          <a:xfrm>
            <a:off x="4411625" y="1805198"/>
            <a:ext cx="540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Notifications</a:t>
            </a:r>
            <a:r>
              <a:rPr lang="ru-RU" dirty="0"/>
              <a:t> (Уведомления о делах)</a:t>
            </a:r>
            <a:endParaRPr lang="ru-RU" i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DA97AF-D382-3CE6-8DF7-76A4B4102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30" y="2757900"/>
            <a:ext cx="9802740" cy="35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8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FCEC-75D8-8F04-9307-DC7851B2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5844D9-696D-B999-5CCD-BE97CE265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B9069-2614-69F8-EA25-BD3C4F9B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Связи между таблицами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69D35F5-1DD4-02A2-9648-32BEB0A52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992283"/>
              </p:ext>
            </p:extLst>
          </p:nvPr>
        </p:nvGraphicFramePr>
        <p:xfrm>
          <a:off x="1750337" y="1176123"/>
          <a:ext cx="8691326" cy="55430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7419">
                  <a:extLst>
                    <a:ext uri="{9D8B030D-6E8A-4147-A177-3AD203B41FA5}">
                      <a16:colId xmlns:a16="http://schemas.microsoft.com/office/drawing/2014/main" val="3487867743"/>
                    </a:ext>
                  </a:extLst>
                </a:gridCol>
                <a:gridCol w="2277969">
                  <a:extLst>
                    <a:ext uri="{9D8B030D-6E8A-4147-A177-3AD203B41FA5}">
                      <a16:colId xmlns:a16="http://schemas.microsoft.com/office/drawing/2014/main" val="2120512436"/>
                    </a:ext>
                  </a:extLst>
                </a:gridCol>
                <a:gridCol w="353746">
                  <a:extLst>
                    <a:ext uri="{9D8B030D-6E8A-4147-A177-3AD203B41FA5}">
                      <a16:colId xmlns:a16="http://schemas.microsoft.com/office/drawing/2014/main" val="3070474976"/>
                    </a:ext>
                  </a:extLst>
                </a:gridCol>
                <a:gridCol w="4202192">
                  <a:extLst>
                    <a:ext uri="{9D8B030D-6E8A-4147-A177-3AD203B41FA5}">
                      <a16:colId xmlns:a16="http://schemas.microsoft.com/office/drawing/2014/main" val="374092325"/>
                    </a:ext>
                  </a:extLst>
                </a:gridCol>
              </a:tblGrid>
              <a:tr h="3882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Таблица</a:t>
                      </a: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FK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endParaRPr lang="ru-RU" sz="12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PK</a:t>
                      </a:r>
                      <a:endParaRPr lang="ru-RU" sz="12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extLst>
                  <a:ext uri="{0D108BD9-81ED-4DB2-BD59-A6C34878D82A}">
                    <a16:rowId xmlns:a16="http://schemas.microsoft.com/office/drawing/2014/main" val="2731779030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 dirty="0" err="1">
                          <a:effectLst/>
                        </a:rPr>
                        <a:t>applicant_id</a:t>
                      </a:r>
                      <a:endParaRPr lang="ru-RU" sz="12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1869508373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judge_id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3691285568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type_id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 dirty="0">
                          <a:effectLst/>
                        </a:rPr>
                        <a:t>case_types.id</a:t>
                      </a:r>
                      <a:endParaRPr lang="ru-RU" sz="12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3910566511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subtype_id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case_subtypes.id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495615390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status_id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case_statuses.id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2523208291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case_subtypes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type_id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case_types.id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4068067955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documents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1881165199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documents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uploaded_by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1528112270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hearings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2730525761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hearings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judge_id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4000656264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decisions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2287754418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decisions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admin_id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3000801362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notifications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users.id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2045788003"/>
                  </a:ext>
                </a:extLst>
              </a:tr>
              <a:tr h="36112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notifications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65178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case_id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>
                          <a:effectLst/>
                        </a:rPr>
                        <a:t>→</a:t>
                      </a:r>
                      <a:endParaRPr lang="ru-RU" sz="12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108631" marT="67894" marB="678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200" dirty="0">
                          <a:effectLst/>
                        </a:rPr>
                        <a:t>cases.id</a:t>
                      </a:r>
                      <a:endParaRPr lang="ru-RU" sz="12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8631" marR="65178" marT="67894" marB="67894" anchor="ctr"/>
                </a:tc>
                <a:extLst>
                  <a:ext uri="{0D108BD9-81ED-4DB2-BD59-A6C34878D82A}">
                    <a16:rowId xmlns:a16="http://schemas.microsoft.com/office/drawing/2014/main" val="328814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49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C04F-102E-E7A7-C7C8-E1416858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F89942-574E-B513-E595-67450A174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C4F01-3B14-BC9B-3FFD-4F4CE014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Политика безопасности БД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A659F-6308-E419-30EE-CE3536FCE0C5}"/>
              </a:ext>
            </a:extLst>
          </p:cNvPr>
          <p:cNvSpPr txBox="1"/>
          <p:nvPr/>
        </p:nvSpPr>
        <p:spPr>
          <a:xfrm>
            <a:off x="562070" y="2500213"/>
            <a:ext cx="31136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/>
              <a:t>Методы защиты: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err="1"/>
              <a:t>bcrypt</a:t>
            </a:r>
            <a:r>
              <a:rPr lang="ru-RU" dirty="0"/>
              <a:t>-хэширование паролей (</a:t>
            </a:r>
            <a:r>
              <a:rPr lang="ru-RU" dirty="0" err="1"/>
              <a:t>password_hash</a:t>
            </a:r>
            <a:r>
              <a:rPr lang="ru-RU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Валидация входных данных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Разграничение по ролям — изоляция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F73BBF-E2FF-9247-E1A2-9CBF83836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455" y="2278526"/>
            <a:ext cx="6725589" cy="800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74294-FEB2-6EC7-65B3-1B3AA0D3870D}"/>
              </a:ext>
            </a:extLst>
          </p:cNvPr>
          <p:cNvSpPr txBox="1"/>
          <p:nvPr/>
        </p:nvSpPr>
        <p:spPr>
          <a:xfrm>
            <a:off x="7458737" y="1821808"/>
            <a:ext cx="140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/>
              <a:t>Валидация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6E92ED3-4AEA-07DB-B1DE-AF9F575BC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107" y="4310692"/>
            <a:ext cx="3848637" cy="2953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20F56D0-BCFC-4773-5DD9-766CAE637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473" y="4585631"/>
            <a:ext cx="5753903" cy="7716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353C3F-D34A-242F-B0EC-D8FB06F2F8D8}"/>
              </a:ext>
            </a:extLst>
          </p:cNvPr>
          <p:cNvSpPr txBox="1"/>
          <p:nvPr/>
        </p:nvSpPr>
        <p:spPr>
          <a:xfrm>
            <a:off x="7292418" y="3803891"/>
            <a:ext cx="173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/>
              <a:t>Хэширование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362640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BF8577-8CA3-45A1-9AC1-4C39061E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621FD-2D6C-43E9-B0DD-2F72CC9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37305"/>
          </a:xfrm>
        </p:spPr>
        <p:txBody>
          <a:bodyPr/>
          <a:lstStyle/>
          <a:p>
            <a:pPr algn="ctr"/>
            <a:r>
              <a:rPr lang="ru-RU" b="1" dirty="0"/>
              <a:t>Выводы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2539F-4B70-B0DE-BDB0-A4C63C1ABF28}"/>
              </a:ext>
            </a:extLst>
          </p:cNvPr>
          <p:cNvSpPr txBox="1"/>
          <p:nvPr/>
        </p:nvSpPr>
        <p:spPr>
          <a:xfrm>
            <a:off x="1467287" y="2470324"/>
            <a:ext cx="9257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00000"/>
              </a:lnSpc>
            </a:pPr>
            <a:r>
              <a:rPr lang="ru-RU" dirty="0"/>
              <a:t>В ходе практики разработана база данных информационной системы «ДЕЛО.РУ» из 9 таблиц, приведённая к третьей нормальной форме. Настроены политика безопасности на основе </a:t>
            </a:r>
            <a:r>
              <a:rPr lang="ru-RU" dirty="0" err="1"/>
              <a:t>prepared</a:t>
            </a:r>
            <a:r>
              <a:rPr lang="ru-RU" dirty="0"/>
              <a:t> </a:t>
            </a:r>
            <a:r>
              <a:rPr lang="ru-RU" dirty="0" err="1"/>
              <a:t>statements</a:t>
            </a:r>
            <a:r>
              <a:rPr lang="ru-RU" dirty="0"/>
              <a:t> PDO </a:t>
            </a:r>
            <a:r>
              <a:rPr lang="en-US" dirty="0"/>
              <a:t>(</a:t>
            </a:r>
            <a:r>
              <a:rPr lang="ru-RU" dirty="0"/>
              <a:t>механизм работы с базами данных в </a:t>
            </a:r>
            <a:r>
              <a:rPr lang="en-US" dirty="0"/>
              <a:t>PHP</a:t>
            </a:r>
            <a:r>
              <a:rPr lang="ru-RU" dirty="0"/>
              <a:t>, который полностью защищает от </a:t>
            </a:r>
            <a:r>
              <a:rPr lang="en-US" dirty="0"/>
              <a:t>SQL</a:t>
            </a:r>
            <a:r>
              <a:rPr lang="ru-RU" dirty="0"/>
              <a:t>-инъекций, разделяя структуру </a:t>
            </a:r>
            <a:r>
              <a:rPr lang="en-US" dirty="0"/>
              <a:t>SQL</a:t>
            </a:r>
            <a:r>
              <a:rPr lang="ru-RU" dirty="0"/>
              <a:t>-запроса и пользовательские данные</a:t>
            </a:r>
            <a:r>
              <a:rPr lang="en-US" dirty="0"/>
              <a:t>)</a:t>
            </a:r>
            <a:r>
              <a:rPr lang="ru-RU" dirty="0"/>
              <a:t>, </a:t>
            </a:r>
            <a:r>
              <a:rPr lang="ru-RU" dirty="0" err="1"/>
              <a:t>bcrypt</a:t>
            </a:r>
            <a:r>
              <a:rPr lang="ru-RU" dirty="0"/>
              <a:t>, валидации входных данных, а также резервное копирование и восстановление через </a:t>
            </a:r>
            <a:r>
              <a:rPr lang="ru-RU" dirty="0" err="1"/>
              <a:t>phpMyAdmin</a:t>
            </a:r>
            <a:r>
              <a:rPr lang="ru-RU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335881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472</Words>
  <Application>Microsoft Office PowerPoint</Application>
  <PresentationFormat>Широкоэкранный</PresentationFormat>
  <Paragraphs>122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Calibri</vt:lpstr>
      <vt:lpstr>quote-cjk-patch</vt:lpstr>
      <vt:lpstr>Тема Office</vt:lpstr>
      <vt:lpstr>Разработка базы данных информационной системы управления судебными делами «ДЕЛО.РУ»</vt:lpstr>
      <vt:lpstr>Цель и задачи</vt:lpstr>
      <vt:lpstr>Предметная область</vt:lpstr>
      <vt:lpstr>Логическая и физическая схемы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Структура таблиц БД</vt:lpstr>
      <vt:lpstr>Связи между таблицами</vt:lpstr>
      <vt:lpstr>Политика безопасности БД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 Мацкевич</dc:creator>
  <cp:lastModifiedBy>Степан Климов</cp:lastModifiedBy>
  <cp:revision>7</cp:revision>
  <dcterms:created xsi:type="dcterms:W3CDTF">2026-09-14T13:37:07Z</dcterms:created>
  <dcterms:modified xsi:type="dcterms:W3CDTF">2026-09-28T18:20:23Z</dcterms:modified>
</cp:coreProperties>
</file>
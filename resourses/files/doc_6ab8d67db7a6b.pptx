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9" r:id="rId3"/>
    <p:sldId id="280" r:id="rId4"/>
    <p:sldId id="281" r:id="rId5"/>
    <p:sldId id="282" r:id="rId6"/>
    <p:sldId id="283" r:id="rId7"/>
    <p:sldId id="285" r:id="rId8"/>
    <p:sldId id="286" r:id="rId9"/>
    <p:sldId id="288" r:id="rId10"/>
    <p:sldId id="287" r:id="rId11"/>
    <p:sldId id="28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7B268-D5F5-7C1D-33CC-84C5F41BE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EDA3E4-BB6A-546A-A3E6-6BB94FC3E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F2F22-CD86-67C1-FBFE-DA1ED1A5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0ECDFD-4537-09A8-1490-B0444BD0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1E3DA4-ED2C-A72C-1C0A-471EE333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34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B74E9-3C63-9F67-6864-9A659330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95B36E-2045-0DD3-3BAC-FE4A18E73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894E14-C85D-7AEE-45A9-471397BF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6CA49B-DA59-4F63-3833-19627D76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DEA8FD-1338-43F9-EA91-529CE509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88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0BE73-4D3D-85ED-CFF3-D24A0600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D178A0-7F1F-4EB3-B597-8FE4972A6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5AE618-7387-5598-7405-86C7B656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BC3D39-7DA1-BB0C-9B3B-7E93A8E4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EE6F4-9A75-1A99-93AC-B49B20A6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52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EAA26-6F35-0C52-8266-2F0729B7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A1DA38-3CDA-2C36-CE2E-9487B6B5F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B0AA67-3296-55B9-4911-EE0B1485C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BF4C78-BDF0-EA73-27A0-F68D2259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9564DD-4479-9F6C-2617-47036659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4507C5-358E-4C30-E650-48C52D94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28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EE4C6-6F02-EA43-9683-8987E4AE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9B1BE1-02AA-F8CA-808D-B7393B544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79C7E6-EF3D-F16B-8419-57CBB35A9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BC3E16-CCB4-665D-EC9B-1F2539E82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DF95C99-E752-CA8B-B7F3-EB0DEC236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A9442D-0980-E0C1-7165-F91B05DB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FF3EE7-F398-A0FB-FB57-418C18A6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8BA1B4-47F9-89A4-9391-4147E37B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37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5DEC9-2F91-703F-5912-1BFF9B5E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D37F1F-9E1F-8028-DDAD-67F8CC0F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71C128-2173-65BB-B8E2-02E56E5D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97431A-6091-DB2D-7575-49DB139A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80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D02148-6CD4-9FA4-6F8C-6A885397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9AC274-4B35-02BA-7E90-AC0AF104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153C31-7153-8BE9-4E86-FF8B58A5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31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208A4-2D0C-C324-9DA3-837BBD52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0BBBD-8CB7-2D1F-798C-F29956C0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DA345D-CC13-E6E4-094B-DBCB6D5D7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44333E-3F54-37FD-3FA9-67C67A6B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B3CCAE-2E21-58CF-B00C-B722FE16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82E5AE-5F1B-9238-E357-418CE990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53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677CC-DF1B-9301-3D0A-C97CD230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32E37E-7883-F202-E7DC-04F6C76D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69C84A-0636-3660-BA32-B313CEAAD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F392E7-C672-B10B-69EC-2FE1350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0E11E8-A59B-968A-9E99-4B0BD669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F9B006-79BB-FA81-01C5-E5152700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67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A4F3B-5FAC-309E-A94B-FC10862B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E47186-EE11-B0D7-8CA2-51CD45A6C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745211-B546-BBFF-A090-B077ECB0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D2DFD8-4F48-A3DC-AD57-3C4B28C6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89239F-25D7-8E90-ED3F-EBEED2D6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23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FD9D6C6-635D-4DB3-3681-4ABB2D016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EA6BAF-4698-2690-D3E9-ACFA83FE2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4C1317-A45B-343A-9BC9-C88B7011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18CAFA-6526-F8C2-222B-B90BA32E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3430AF-583F-FDC2-DFB8-72535B8F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1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0B1FE-DDF7-ED49-584F-A54A7267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4FCE5C-08D6-1E11-2C8E-9656CD18F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3DE161-8EE8-D6D0-572F-0DF3BBCE8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C1214-74CB-4C09-B0F8-32CC454DEA6F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D29583-3E15-9331-A4C3-C27C7BFEB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23CE72-A47A-D927-B0EB-C79AF5F95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82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3987" y="2137678"/>
            <a:ext cx="10123053" cy="2387600"/>
          </a:xfrm>
        </p:spPr>
        <p:txBody>
          <a:bodyPr anchor="ctr">
            <a:normAutofit/>
          </a:bodyPr>
          <a:lstStyle/>
          <a:p>
            <a:r>
              <a:rPr lang="ru-RU" sz="3000" dirty="0">
                <a:solidFill>
                  <a:srgbClr val="EE2A24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Этапы разработки интерфейса веб-приложения системы управления судебными делами «ДЕЛО.РУ» (модуль авторизации, заявителя и судьи)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931091" y="4600287"/>
            <a:ext cx="7230428" cy="1786961"/>
          </a:xfrm>
        </p:spPr>
        <p:txBody>
          <a:bodyPr anchor="b">
            <a:normAutofit/>
          </a:bodyPr>
          <a:lstStyle/>
          <a:p>
            <a:pPr algn="r"/>
            <a:r>
              <a:rPr lang="ru-RU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Выполнил: студент гр.ИСП-23-1</a:t>
            </a:r>
          </a:p>
          <a:p>
            <a:pPr algn="r"/>
            <a:r>
              <a:rPr lang="ru-RU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Климов Степан Андреевич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1754778" y="5695404"/>
            <a:ext cx="2804160" cy="766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89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879" y="0"/>
            <a:ext cx="5621602" cy="1037305"/>
          </a:xfrm>
        </p:spPr>
        <p:txBody>
          <a:bodyPr/>
          <a:lstStyle/>
          <a:p>
            <a:r>
              <a:rPr lang="ru-RU" b="1" dirty="0"/>
              <a:t>Задача и требования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E5C14-D7B2-E543-7561-4D59B05D1456}"/>
              </a:ext>
            </a:extLst>
          </p:cNvPr>
          <p:cNvSpPr txBox="1"/>
          <p:nvPr/>
        </p:nvSpPr>
        <p:spPr>
          <a:xfrm>
            <a:off x="752114" y="1314008"/>
            <a:ext cx="109359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Назначение системы: автоматизация подачи и обработки судебных заявлений, взаимодействия заявителей, администраторов и судей, учёта дел, планирования заседаний и информирования участников.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48F1E0C-5187-6AEE-E9D6-6BB2F571E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455968"/>
              </p:ext>
            </p:extLst>
          </p:nvPr>
        </p:nvGraphicFramePr>
        <p:xfrm>
          <a:off x="1987585" y="2767538"/>
          <a:ext cx="8216830" cy="2263432"/>
        </p:xfrm>
        <a:graphic>
          <a:graphicData uri="http://schemas.openxmlformats.org/drawingml/2006/table">
            <a:tbl>
              <a:tblPr firstRow="1" firstCol="1" bandRow="1"/>
              <a:tblGrid>
                <a:gridCol w="4108415">
                  <a:extLst>
                    <a:ext uri="{9D8B030D-6E8A-4147-A177-3AD203B41FA5}">
                      <a16:colId xmlns:a16="http://schemas.microsoft.com/office/drawing/2014/main" val="3885114478"/>
                    </a:ext>
                  </a:extLst>
                </a:gridCol>
                <a:gridCol w="4108415">
                  <a:extLst>
                    <a:ext uri="{9D8B030D-6E8A-4147-A177-3AD203B41FA5}">
                      <a16:colId xmlns:a16="http://schemas.microsoft.com/office/drawing/2014/main" val="369611895"/>
                    </a:ext>
                  </a:extLst>
                </a:gridCol>
              </a:tblGrid>
              <a:tr h="2736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270510" algn="l"/>
                          <a:tab pos="540385" algn="l"/>
                          <a:tab pos="900430" algn="l"/>
                          <a:tab pos="990600" algn="l"/>
                          <a:tab pos="1260475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Роль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270510" algn="l"/>
                          <a:tab pos="540385" algn="l"/>
                          <a:tab pos="900430" algn="l"/>
                          <a:tab pos="990600" algn="l"/>
                          <a:tab pos="1260475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Описание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339518"/>
                  </a:ext>
                </a:extLst>
              </a:tr>
              <a:tr h="5658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270510" algn="l"/>
                          <a:tab pos="540385" algn="l"/>
                          <a:tab pos="900430" algn="l"/>
                          <a:tab pos="990600" algn="l"/>
                          <a:tab pos="1260475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Заявитель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270510" algn="l"/>
                          <a:tab pos="540385" algn="l"/>
                          <a:tab pos="900430" algn="l"/>
                          <a:tab pos="990600" algn="l"/>
                          <a:tab pos="1260475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Физическое или юридическое лицо, подающее заявление в суд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08338"/>
                  </a:ext>
                </a:extLst>
              </a:tr>
              <a:tr h="8580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270510" algn="l"/>
                          <a:tab pos="540385" algn="l"/>
                          <a:tab pos="900430" algn="l"/>
                          <a:tab pos="990600" algn="l"/>
                          <a:tab pos="1260475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Администратор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270510" algn="l"/>
                          <a:tab pos="540385" algn="l"/>
                          <a:tab pos="900430" algn="l"/>
                          <a:tab pos="990600" algn="l"/>
                          <a:tab pos="1260475" algn="l"/>
                        </a:tabLs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Сотрудник Управления Судебного департамента, проверяющий заявления и управляющий системой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94107"/>
                  </a:ext>
                </a:extLst>
              </a:tr>
              <a:tr h="5658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270510" algn="l"/>
                          <a:tab pos="540385" algn="l"/>
                          <a:tab pos="900430" algn="l"/>
                          <a:tab pos="990600" algn="l"/>
                          <a:tab pos="1260475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Судья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270510" algn="l"/>
                          <a:tab pos="540385" algn="l"/>
                          <a:tab pos="900430" algn="l"/>
                          <a:tab pos="990600" algn="l"/>
                          <a:tab pos="1260475" algn="l"/>
                        </a:tabLs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Судья, рассматривающий дела и назначающий судебные заседания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235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12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Разработка </a:t>
            </a:r>
            <a:r>
              <a:rPr lang="en-US" b="1" dirty="0"/>
              <a:t>UI kit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8F0836-F286-B5C2-D359-F39A97E89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52" y="2380379"/>
            <a:ext cx="5410948" cy="31345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FBB902-111B-4387-4D64-829F57A58C22}"/>
              </a:ext>
            </a:extLst>
          </p:cNvPr>
          <p:cNvSpPr txBox="1"/>
          <p:nvPr/>
        </p:nvSpPr>
        <p:spPr>
          <a:xfrm>
            <a:off x="832093" y="3106595"/>
            <a:ext cx="42725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dirty="0"/>
              <a:t>Палитра: #E99949 (оранжевый), #FAF3DD (фон), #5C5C5C (текст), #FFFFFF (карточки)</a:t>
            </a:r>
          </a:p>
          <a:p>
            <a:pPr lvl="0"/>
            <a:r>
              <a:rPr lang="ru-RU" dirty="0"/>
              <a:t>Шрифт: </a:t>
            </a:r>
            <a:r>
              <a:rPr lang="ru-RU" dirty="0" err="1"/>
              <a:t>Montserrat</a:t>
            </a:r>
            <a:r>
              <a:rPr lang="ru-RU" dirty="0"/>
              <a:t> (400, 500, 600, 700)</a:t>
            </a:r>
          </a:p>
          <a:p>
            <a:pPr lvl="0"/>
            <a:r>
              <a:rPr lang="ru-RU" dirty="0"/>
              <a:t>Компоненты: кнопки, поля ввода</a:t>
            </a:r>
          </a:p>
        </p:txBody>
      </p:sp>
    </p:spTree>
    <p:extLst>
      <p:ext uri="{BB962C8B-B14F-4D97-AF65-F5344CB8AC3E}">
        <p14:creationId xmlns:p14="http://schemas.microsoft.com/office/powerpoint/2010/main" val="74714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E0F81E6-0FBB-2363-9A69-B0E20E4D3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Разработка макета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E5C14-D7B2-E543-7561-4D59B05D1456}"/>
              </a:ext>
            </a:extLst>
          </p:cNvPr>
          <p:cNvSpPr txBox="1"/>
          <p:nvPr/>
        </p:nvSpPr>
        <p:spPr>
          <a:xfrm>
            <a:off x="1888401" y="2753710"/>
            <a:ext cx="3380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Разработан макет страницы входа: логотип «ДЕЛО.РУ», поля логина и пароля, кнопка «ВОЙТИ», ссылка на регистрацию.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08691B2-D29F-8DA4-2C31-35F100EB7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861" y="1776506"/>
            <a:ext cx="3643087" cy="412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52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Разработка макета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2539F-4B70-B0DE-BDB0-A4C63C1ABF28}"/>
              </a:ext>
            </a:extLst>
          </p:cNvPr>
          <p:cNvSpPr txBox="1"/>
          <p:nvPr/>
        </p:nvSpPr>
        <p:spPr>
          <a:xfrm>
            <a:off x="838200" y="2517739"/>
            <a:ext cx="32785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Разработан макет меню заявителя: шапка с логотипом и профилем, левое меню с вкладками «Мои дела», «Расписание заседаний», «Подать заявление», правая область со списком карточек дел. (макет для меню судьи сделан идентично)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CB0B86D-D964-5598-E2F9-0A042ECB1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286" y="1161156"/>
            <a:ext cx="6565812" cy="531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9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Разработка макета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2539F-4B70-B0DE-BDB0-A4C63C1ABF28}"/>
              </a:ext>
            </a:extLst>
          </p:cNvPr>
          <p:cNvSpPr txBox="1"/>
          <p:nvPr/>
        </p:nvSpPr>
        <p:spPr>
          <a:xfrm>
            <a:off x="3890882" y="1552669"/>
            <a:ext cx="47904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Разработан макет пользовательского компонента: номер дела, цветной бейдж статуса, тип и подтип, комментарий, данные заявителя. (остальные карточки строятся по такому же принципу)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BA1986-1295-ED17-A981-0B1B29ADE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15" y="3545362"/>
            <a:ext cx="11073015" cy="28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5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0E0DA-37DB-3DFA-BC2C-2DDC61E9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8A0065-644A-9BFD-2FF2-D336DCD99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C7C83-9734-0273-1B1A-944C4331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Вёрстка разработанного интерфейса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07ECF-57A1-5333-B40D-B2688AF6CDA3}"/>
              </a:ext>
            </a:extLst>
          </p:cNvPr>
          <p:cNvSpPr txBox="1"/>
          <p:nvPr/>
        </p:nvSpPr>
        <p:spPr>
          <a:xfrm>
            <a:off x="532047" y="1276943"/>
            <a:ext cx="4790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Свёрстаны модули сайта (авторизации, заявителя, судьи) на HTML5 + CSS3 + JavaScript. Использованы </a:t>
            </a:r>
            <a:r>
              <a:rPr lang="ru-RU" dirty="0" err="1"/>
              <a:t>flex</a:t>
            </a:r>
            <a:r>
              <a:rPr lang="ru-RU" dirty="0"/>
              <a:t>-атрибуты, единая палитра и шрифт из UI </a:t>
            </a:r>
            <a:r>
              <a:rPr lang="ru-RU" dirty="0" err="1"/>
              <a:t>kit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B38D09-FD32-A3FC-8790-A49CD6170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13" y="2824783"/>
            <a:ext cx="6219731" cy="30855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DB6A12-1155-9306-B5EE-8F85EB9E2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268" y="1708965"/>
            <a:ext cx="4172532" cy="4477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C8DD34-2241-B38B-448D-84DF658F6F8E}"/>
              </a:ext>
            </a:extLst>
          </p:cNvPr>
          <p:cNvSpPr txBox="1"/>
          <p:nvPr/>
        </p:nvSpPr>
        <p:spPr>
          <a:xfrm>
            <a:off x="8566842" y="1188469"/>
            <a:ext cx="1545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</a:t>
            </a:r>
            <a:r>
              <a:rPr lang="ru-RU" sz="1800" dirty="0"/>
              <a:t>вторизация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2597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4C30-7BF8-35A8-CC34-378CE7F87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FA0806-91EA-34D4-CD97-2BAFEF0A4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1BEF3A-3C33-B19E-8E3A-BD87F25F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Вёрстка разработанного интерфейса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01DC4F-9024-76A5-5C84-6B7F28F036C6}"/>
              </a:ext>
            </a:extLst>
          </p:cNvPr>
          <p:cNvSpPr txBox="1"/>
          <p:nvPr/>
        </p:nvSpPr>
        <p:spPr>
          <a:xfrm>
            <a:off x="4888493" y="1209556"/>
            <a:ext cx="2191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Модуль заявителя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12E70F-6445-ED2A-21F2-FDE1F217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74" y="1751139"/>
            <a:ext cx="5652377" cy="487090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252218-3361-235D-CFBB-FD53757BA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851" y="2631848"/>
            <a:ext cx="5743670" cy="28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82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FD587-BBD3-B940-5789-0CE1F7F1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45C1F2-557C-6CA3-E453-F18D88DDE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0B508-822C-5E4D-CAC4-92C913BB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Вёрстка разработанного интерфейса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6F8AF2-ED50-294D-60AC-361D4D627C1B}"/>
              </a:ext>
            </a:extLst>
          </p:cNvPr>
          <p:cNvSpPr txBox="1"/>
          <p:nvPr/>
        </p:nvSpPr>
        <p:spPr>
          <a:xfrm>
            <a:off x="4443553" y="1209556"/>
            <a:ext cx="3304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Пользовательский компонент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E906E6A-031B-C50E-E224-3C04C81F1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810" y="1751139"/>
            <a:ext cx="4296375" cy="256258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82EABC6-704B-50F1-0D32-4C9E65DBC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85" y="4608553"/>
            <a:ext cx="10909427" cy="178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1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2AF9-EE32-E4C3-8F56-14FCEEE53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108A30-E1CE-D23C-5D38-6B1CB0DED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F85C7-F41D-5F98-75C1-7F4884D5A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Вёрстка разработанного интерфейса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E3A4A-9281-65CC-9869-F02B853FA913}"/>
              </a:ext>
            </a:extLst>
          </p:cNvPr>
          <p:cNvSpPr txBox="1"/>
          <p:nvPr/>
        </p:nvSpPr>
        <p:spPr>
          <a:xfrm>
            <a:off x="5128409" y="1209556"/>
            <a:ext cx="171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Модуль судьи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D2DB54-A39F-CB8E-6129-EFAF760E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86" y="1603785"/>
            <a:ext cx="4396804" cy="50427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E57615-5187-8249-11C6-B3161F249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409" y="2341348"/>
            <a:ext cx="6839892" cy="341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31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Выводы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2539F-4B70-B0DE-BDB0-A4C63C1ABF28}"/>
              </a:ext>
            </a:extLst>
          </p:cNvPr>
          <p:cNvSpPr txBox="1"/>
          <p:nvPr/>
        </p:nvSpPr>
        <p:spPr>
          <a:xfrm>
            <a:off x="547477" y="2266285"/>
            <a:ext cx="112781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>
              <a:lnSpc>
                <a:spcPct val="100000"/>
              </a:lnSpc>
            </a:pPr>
            <a:r>
              <a:rPr lang="ru-RU" sz="2400" dirty="0"/>
              <a:t>Разработан дизайн веб-приложения «ДЕЛО.РУ»: спроектирована дизайн-концепция, создан UI </a:t>
            </a:r>
            <a:r>
              <a:rPr lang="ru-RU" sz="2400" dirty="0" err="1"/>
              <a:t>kit</a:t>
            </a:r>
            <a:r>
              <a:rPr lang="ru-RU" sz="2400" dirty="0"/>
              <a:t>, разработаны макеты всех страниц в </a:t>
            </a:r>
            <a:r>
              <a:rPr lang="ru-RU" sz="2400" dirty="0" err="1"/>
              <a:t>Figma</a:t>
            </a:r>
            <a:r>
              <a:rPr lang="ru-RU" sz="2400" dirty="0"/>
              <a:t>. Свёрстано 6 HTML-страниц для ролей заявителя и судьи с использованием HTML5, CSS3 и JavaScript. Разработано 6 пользовательских компонентов (</a:t>
            </a:r>
            <a:r>
              <a:rPr lang="ru-RU" sz="2400" dirty="0" err="1"/>
              <a:t>Custom</a:t>
            </a:r>
            <a:r>
              <a:rPr lang="ru-RU" sz="2400" dirty="0"/>
              <a:t> Elements) с изоляцией стилей через Shadow DOM.</a:t>
            </a:r>
          </a:p>
        </p:txBody>
      </p:sp>
    </p:spTree>
    <p:extLst>
      <p:ext uri="{BB962C8B-B14F-4D97-AF65-F5344CB8AC3E}">
        <p14:creationId xmlns:p14="http://schemas.microsoft.com/office/powerpoint/2010/main" val="13335881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339</Words>
  <Application>Microsoft Office PowerPoint</Application>
  <PresentationFormat>Широкоэкранный</PresentationFormat>
  <Paragraphs>35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Times New Roman</vt:lpstr>
      <vt:lpstr>Тема Office</vt:lpstr>
      <vt:lpstr>Этапы разработки интерфейса веб-приложения системы управления судебными делами «ДЕЛО.РУ» (модуль авторизации, заявителя и судьи)</vt:lpstr>
      <vt:lpstr>Задача и требования</vt:lpstr>
      <vt:lpstr>Разработка UI kit</vt:lpstr>
      <vt:lpstr>Разработка макета </vt:lpstr>
      <vt:lpstr>Разработка макета </vt:lpstr>
      <vt:lpstr>Разработка макета </vt:lpstr>
      <vt:lpstr>Вёрстка разработанного интерфейса</vt:lpstr>
      <vt:lpstr>Вёрстка разработанного интерфейса</vt:lpstr>
      <vt:lpstr>Вёрстка разработанного интерфейса</vt:lpstr>
      <vt:lpstr>Вёрстка разработанного интерфейса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 Мацкевич</dc:creator>
  <cp:lastModifiedBy>Степан Климов</cp:lastModifiedBy>
  <cp:revision>4</cp:revision>
  <dcterms:created xsi:type="dcterms:W3CDTF">2026-09-14T13:37:07Z</dcterms:created>
  <dcterms:modified xsi:type="dcterms:W3CDTF">2026-09-14T18:24:15Z</dcterms:modified>
</cp:coreProperties>
</file>